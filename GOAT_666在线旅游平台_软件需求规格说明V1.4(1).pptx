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  <p:sldMasterId id="2147483687" r:id="rId2"/>
    <p:sldMasterId id="2147483688" r:id="rId3"/>
  </p:sldMasterIdLst>
  <p:notesMasterIdLst>
    <p:notesMasterId r:id="rId16"/>
  </p:notesMasterIdLst>
  <p:sldIdLst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5" r:id="rId14"/>
    <p:sldId id="29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84" y="13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85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18.10.2026</a:t>
            </a:fld>
            <a:endParaRPr lang="cs-CZ"/>
          </a:p>
        </p:txBody>
      </p:sp>
      <p:sp>
        <p:nvSpPr>
          <p:cNvPr id="104885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104885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104885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104885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58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104858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04858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各位老师好，今天我们汇报的是GOAT_666在线旅游平台的软件需求规格说明书V1.4版本。本项目是软件工程课程的第三次作业，聚焦在线旅游平台的完整需求定义，覆盖从游客浏览到模拟预订、社区互动再到平台管理的全流程。</a:t>
            </a:r>
          </a:p>
        </p:txBody>
      </p:sp>
      <p:sp>
        <p:nvSpPr>
          <p:cNvPr id="104858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58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0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104860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04860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本次汇报分为六个部分，先讲项目要解决的核心问题，再展开我们定义的产品范围、用户角色、系统模型、核心业务规则，最后介绍界面原型、验收标准和后续待完成的工作，让大家对整个需求文档的结构有一个全局认知。</a:t>
            </a:r>
          </a:p>
        </p:txBody>
      </p:sp>
      <p:sp>
        <p:nvSpPr>
          <p:cNvPr id="104861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1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2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104862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0486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做这个平台的初衷，就是解决现在旅游信息太分散的问题：用户找个景点要翻好几个App，想走一遍订票流程又怕真扣钱，出行写的游记也散在各个平台没有统一沉淀。所以我们做了这个教学用的模拟旅游平台，所有预订和退款都是模拟的，不会有真实资金往来。</a:t>
            </a:r>
          </a:p>
        </p:txBody>
      </p:sp>
      <p:sp>
        <p:nvSpPr>
          <p:cNvPr id="10486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31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1048632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048633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在需求一开始就把范围划得很清楚：初版只做无支付风险的核心流程，所有涉及真实资金的功能全部排除，后续迭代再做个性化推荐、内容统计和AI行程助手，避免需求蔓延。技术约束上，库存数据全部来自服务端，页面展示的可用数是实时同步的，日期统一用YYYY-MM-DD格式，金额以人民币元为单位保留两位小数。</a:t>
            </a:r>
          </a:p>
        </p:txBody>
      </p:sp>
      <p:sp>
        <p:nvSpPr>
          <p:cNvPr id="1048634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35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47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1048648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048649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把用户分成三层：游客不用登录就能看所有公开信息，降低使用门槛；注册用户拥有下单和社区互动的完整权限；管理员负责后台的内容维护。这样的权限分层既保证了浏览体验，也把涉及操作的动作都收敛到登录态之后，符合实际Web产品的通用设计。</a:t>
            </a:r>
          </a:p>
        </p:txBody>
      </p:sp>
      <p:sp>
        <p:nvSpPr>
          <p:cNvPr id="104865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51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54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1048655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04865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一共梳理了6个核心场景，前5个是初版必须覆盖的主流程，最后一个AI旅行助手是后续扩展功能。每个场景我们都按「角色目标-触发点-前置条件-正常步骤-异常分支-最终结果」的标准格式写清楚了，保证开发和测试都能直接对照。</a:t>
            </a:r>
          </a:p>
        </p:txBody>
      </p:sp>
      <p:sp>
        <p:nvSpPr>
          <p:cNvPr id="104865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5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66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1048667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048668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类图上我们把所有核心对象拆成5组关系：用户和订单的归属关系、产品和按日期库存的关系、订单和订单项的明细关系、目的地-景点-产品的层级关系，以及社区互动的多态关联。这5组关系覆盖了文档里全部12个功能需求的对象模型，开发同学可以直接基于这个模型建库。</a:t>
            </a:r>
          </a:p>
        </p:txBody>
      </p:sp>
      <p:sp>
        <p:nvSpPr>
          <p:cNvPr id="1048669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70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7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104867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04867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功能需求一共12项，其中前9项是初版必须交付的，后3项是后续扩展。每个需求我们都明确了负责的角色，整个分工对应项目里A到D四个模块的同学，需求可追溯到每个负责人。</a:t>
            </a:r>
          </a:p>
        </p:txBody>
      </p:sp>
      <p:sp>
        <p:nvSpPr>
          <p:cNvPr id="104867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7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92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1048693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048694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这几个核心规则我们都在文档里做了明确的决策记录：比如为什么用阶梯退款而不是全退，为什么用服务端幂等而不是只禁用前端按钮，这些ISS-01到ISS-03的设计决策都写在文档的问题记录章节，所有规则都可以直接对应到后续的验收测试用例。</a:t>
            </a:r>
          </a:p>
        </p:txBody>
      </p:sp>
      <p:sp>
        <p:nvSpPr>
          <p:cNvPr id="1048695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96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699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1048700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048701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我们一共规划了8个核心页面，从首页搜索到下单、个人中心、后台，覆盖了初版全部功能的交互路径，其中3个关键页面已经有了线框图，剩下的页面原型由角色C负责在作业截止前补完。</a:t>
            </a:r>
          </a:p>
        </p:txBody>
      </p:sp>
      <p:sp>
        <p:nvSpPr>
          <p:cNvPr id="1048702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703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708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1048709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048710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我们的验收测试用例全部覆盖了关键路径：正常下单、库存不足、非法数量、重复提交、不同场景下的退款规则、权限隔离，所有用例的预期结果都明确可测，开发完成后可以直接按这10个用例走一遍验收。</a:t>
            </a:r>
          </a:p>
        </p:txBody>
      </p:sp>
      <p:sp>
        <p:nvSpPr>
          <p:cNvPr id="1048711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712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720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1048721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1048722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>
                <a:solidFill>
                  <a:srgbClr val="000000">
                    <a:alpha val="100000"/>
                  </a:srgbClr>
                </a:solidFill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目前文档还有几项待完成的工作，我们计划在作业截止前补完所有原型和验收点，后续再逐步扩展个性化推荐、内容统计和AI旅行助手这些功能。我的汇报到此结束，谢谢各位老师，欢迎提问。</a:t>
            </a:r>
          </a:p>
        </p:txBody>
      </p:sp>
      <p:sp>
        <p:nvSpPr>
          <p:cNvPr id="1048723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1048724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3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794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048795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796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797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08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>
            <a:endParaRPr/>
          </a:p>
        </p:txBody>
      </p:sp>
      <p:sp>
        <p:nvSpPr>
          <p:cNvPr id="1048809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10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11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24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48825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26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27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8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29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>
            <a:endParaRPr/>
          </a:p>
        </p:txBody>
      </p:sp>
      <p:sp>
        <p:nvSpPr>
          <p:cNvPr id="1048830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>
            <a:endParaRPr/>
          </a:p>
        </p:txBody>
      </p:sp>
      <p:sp>
        <p:nvSpPr>
          <p:cNvPr id="1048831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32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33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35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48836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>
            <a:endParaRPr/>
          </a:p>
        </p:txBody>
      </p:sp>
      <p:sp>
        <p:nvSpPr>
          <p:cNvPr id="1048837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048838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>
            <a:endParaRPr/>
          </a:p>
        </p:txBody>
      </p:sp>
      <p:sp>
        <p:nvSpPr>
          <p:cNvPr id="1048839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40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41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8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799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00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01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2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43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44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4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4884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4884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4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5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1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4881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4881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1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1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8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19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>
            <a:endParaRPr/>
          </a:p>
        </p:txBody>
      </p:sp>
      <p:sp>
        <p:nvSpPr>
          <p:cNvPr id="1048820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21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22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03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lvl9pPr>
          </a:lstStyle>
          <a:p>
            <a:endParaRPr/>
          </a:p>
        </p:txBody>
      </p:sp>
      <p:sp>
        <p:nvSpPr>
          <p:cNvPr id="1048804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05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</a:lvl9pPr>
          </a:lstStyle>
          <a:p>
            <a:endParaRPr/>
          </a:p>
        </p:txBody>
      </p:sp>
      <p:sp>
        <p:nvSpPr>
          <p:cNvPr id="1048806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</a:lvl1pPr>
            <a:lvl2pPr marL="0" lvl="1" indent="0" algn="r">
              <a:spcBef>
                <a:spcPts val="0"/>
              </a:spcBef>
              <a:buNone/>
            </a:lvl2pPr>
            <a:lvl3pPr marL="0" lvl="2" indent="0" algn="r">
              <a:spcBef>
                <a:spcPts val="0"/>
              </a:spcBef>
              <a:buNone/>
            </a:lvl3pPr>
            <a:lvl4pPr marL="0" lvl="3" indent="0" algn="r">
              <a:spcBef>
                <a:spcPts val="0"/>
              </a:spcBef>
              <a:buNone/>
            </a:lvl4pPr>
            <a:lvl5pPr marL="0" lvl="4" indent="0" algn="r">
              <a:spcBef>
                <a:spcPts val="0"/>
              </a:spcBef>
              <a:buNone/>
            </a:lvl5pPr>
            <a:lvl6pPr marL="0" lvl="5" indent="0" algn="r">
              <a:spcBef>
                <a:spcPts val="0"/>
              </a:spcBef>
              <a:buNone/>
            </a:lvl6pPr>
            <a:lvl7pPr marL="0" lvl="6" indent="0" algn="r">
              <a:spcBef>
                <a:spcPts val="0"/>
              </a:spcBef>
              <a:buNone/>
            </a:lvl7pPr>
            <a:lvl8pPr marL="0" lvl="7" indent="0" algn="r">
              <a:spcBef>
                <a:spcPts val="0"/>
              </a:spcBef>
              <a:buNone/>
            </a:lvl8pPr>
            <a:lvl9pPr marL="0" lvl="8" indent="0" algn="r">
              <a:spcBef>
                <a:spcPts val="0"/>
              </a:spcBef>
              <a:buNone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ctr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1048739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ctr">
              <a:lnSpc>
                <a:spcPct val="91666"/>
              </a:lnSpc>
              <a:defRPr sz="18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61950" algn="ctr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subtitle</a:t>
            </a:r>
          </a:p>
        </p:txBody>
      </p:sp>
      <p:sp>
        <p:nvSpPr>
          <p:cNvPr id="1048740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1048741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1048742" name="AutoShape 6"/>
          <p:cNvSpPr>
            <a:spLocks noGrp="1"/>
          </p:cNvSpPr>
          <p:nvPr>
            <p:ph type="body" sz="quarter" idx="1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A48B44D-98D2-45BA-B79D-821DBACA8C6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AutoShape 2"/>
          <p:cNvSpPr>
            <a:spLocks noGrp="1"/>
          </p:cNvSpPr>
          <p:nvPr>
            <p:ph type="body" sz="quarter" idx="1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1048734" name="AutoShape 3"/>
          <p:cNvSpPr>
            <a:spLocks noGrp="1"/>
          </p:cNvSpPr>
          <p:nvPr>
            <p:ph type="body" sz="quarter" idx="1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1048735" name="AutoShape 4"/>
          <p:cNvSpPr>
            <a:spLocks noGrp="1"/>
          </p:cNvSpPr>
          <p:nvPr>
            <p:ph type="body" sz="quarter" idx="1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1048736" name="AutoShape 5"/>
          <p:cNvSpPr>
            <a:spLocks noGrp="1"/>
          </p:cNvSpPr>
          <p:nvPr>
            <p:ph type="body" sz="quarter" idx="1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1048737" name="AutoShape 6"/>
          <p:cNvSpPr>
            <a:spLocks noGrp="1"/>
          </p:cNvSpPr>
          <p:nvPr>
            <p:ph type="body" sz="quarter" idx="1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2975DCA-7276-4C29-AA83-611A8A8D1EFD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5" name="AutoShape 2"/>
          <p:cNvSpPr>
            <a:spLocks noGrp="1"/>
          </p:cNvSpPr>
          <p:nvPr>
            <p:ph type="body" sz="quarter" idx="16" hasCustomPrompt="1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45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45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1048766" name="AutoShape 3"/>
          <p:cNvSpPr>
            <a:spLocks noGrp="1"/>
          </p:cNvSpPr>
          <p:nvPr>
            <p:ph type="body" sz="quarter" idx="17" hasCustomPrompt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1048767" name="AutoShape 4"/>
          <p:cNvSpPr>
            <a:spLocks noGrp="1"/>
          </p:cNvSpPr>
          <p:nvPr>
            <p:ph type="body" sz="quarter" idx="18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1048768" name="AutoShape 5"/>
          <p:cNvSpPr>
            <a:spLocks noGrp="1"/>
          </p:cNvSpPr>
          <p:nvPr>
            <p:ph type="body" sz="quarter" idx="19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1048769" name="AutoShape 6"/>
          <p:cNvSpPr>
            <a:spLocks noGrp="1"/>
          </p:cNvSpPr>
          <p:nvPr>
            <p:ph type="body" sz="quarter" idx="20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60B7F589-F51B-46B9-BD66-C4171F4839E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1048760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1048761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1048762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1048763" name="AutoShape 6"/>
          <p:cNvSpPr>
            <a:spLocks noGrp="1"/>
          </p:cNvSpPr>
          <p:nvPr>
            <p:ph type="body" sz="quarter" idx="25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1048764" name="AutoShape 7"/>
          <p:cNvSpPr>
            <a:spLocks noGrp="1"/>
          </p:cNvSpPr>
          <p:nvPr>
            <p:ph type="body" sz="quarter" idx="26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3F2C99B-8151-4CF7-97A8-17FCD77381C9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WO_OBJECTS_WITH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0" name="AutoShape 2"/>
          <p:cNvSpPr>
            <a:spLocks noGrp="1"/>
          </p:cNvSpPr>
          <p:nvPr>
            <p:ph type="body" sz="quarter" idx="27" hasCustomPrompt="1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1048781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1048782" name="AutoShape 4"/>
          <p:cNvSpPr>
            <a:spLocks noGrp="1"/>
          </p:cNvSpPr>
          <p:nvPr>
            <p:ph type="body" sz="quarter" idx="29" hasCustomPrompt="1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1048783" name="AutoShape 5"/>
          <p:cNvSpPr>
            <a:spLocks noGrp="1"/>
          </p:cNvSpPr>
          <p:nvPr>
            <p:ph type="body" sz="quarter" idx="30" hasCustomPrompt="1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18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800" b="1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1048784" name="AutoShape 6"/>
          <p:cNvSpPr>
            <a:spLocks noGrp="1"/>
          </p:cNvSpPr>
          <p:nvPr>
            <p:ph type="body" sz="quarter" idx="31" hasCustomPrompt="1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1048785" name="AutoShape 7"/>
          <p:cNvSpPr>
            <a:spLocks noGrp="1"/>
          </p:cNvSpPr>
          <p:nvPr>
            <p:ph type="body" sz="quarter" idx="32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1048786" name="AutoShape 8"/>
          <p:cNvSpPr>
            <a:spLocks noGrp="1"/>
          </p:cNvSpPr>
          <p:nvPr>
            <p:ph type="body" sz="quarter" idx="33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1048787" name="AutoShape 9"/>
          <p:cNvSpPr>
            <a:spLocks noGrp="1"/>
          </p:cNvSpPr>
          <p:nvPr>
            <p:ph type="body" sz="quarter" idx="34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DBFF69F-9C62-41BE-B6BB-16D7A68B2BEA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6" name="AutoShape 2"/>
          <p:cNvSpPr>
            <a:spLocks noGrp="1"/>
          </p:cNvSpPr>
          <p:nvPr>
            <p:ph type="body" sz="quarter" idx="35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1048777" name="AutoShape 3"/>
          <p:cNvSpPr>
            <a:spLocks noGrp="1"/>
          </p:cNvSpPr>
          <p:nvPr>
            <p:ph type="body" sz="quarter" idx="3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1048778" name="AutoShape 4"/>
          <p:cNvSpPr>
            <a:spLocks noGrp="1"/>
          </p:cNvSpPr>
          <p:nvPr>
            <p:ph type="body" sz="quarter" idx="3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1048779" name="AutoShape 5"/>
          <p:cNvSpPr>
            <a:spLocks noGrp="1"/>
          </p:cNvSpPr>
          <p:nvPr>
            <p:ph type="body" sz="quarter" idx="3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58D3EB9-0451-48EF-BED1-D44ACF0BD57B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0" name="AutoShape 2"/>
          <p:cNvSpPr>
            <a:spLocks noGrp="1"/>
          </p:cNvSpPr>
          <p:nvPr>
            <p:ph type="body" sz="quarter" idx="39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1048731" name="AutoShape 3"/>
          <p:cNvSpPr>
            <a:spLocks noGrp="1"/>
          </p:cNvSpPr>
          <p:nvPr>
            <p:ph type="body" sz="quarter" idx="40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1048732" name="AutoShape 4"/>
          <p:cNvSpPr>
            <a:spLocks noGrp="1"/>
          </p:cNvSpPr>
          <p:nvPr>
            <p:ph type="body" sz="quarter" idx="41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AE123740-B0E8-4151-9558-0ABC1AE7F195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OBJECT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0" name="AutoShape 2"/>
          <p:cNvSpPr>
            <a:spLocks noGrp="1"/>
          </p:cNvSpPr>
          <p:nvPr>
            <p:ph type="body" sz="quarter" idx="42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1048771" name="AutoShape 3"/>
          <p:cNvSpPr>
            <a:spLocks noGrp="1"/>
          </p:cNvSpPr>
          <p:nvPr>
            <p:ph type="body" sz="quarter" idx="43" hasCustomPrompt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81000" algn="l">
              <a:lnSpc>
                <a:spcPct val="91666"/>
              </a:lnSpc>
              <a:spcBef>
                <a:spcPts val="800"/>
              </a:spcBef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1048772" name="AutoShape 4"/>
          <p:cNvSpPr>
            <a:spLocks noGrp="1"/>
          </p:cNvSpPr>
          <p:nvPr>
            <p:ph type="body" sz="quarter" idx="44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1048773" name="AutoShape 5"/>
          <p:cNvSpPr>
            <a:spLocks noGrp="1"/>
          </p:cNvSpPr>
          <p:nvPr>
            <p:ph type="body" sz="quarter" idx="45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1048774" name="AutoShape 6"/>
          <p:cNvSpPr>
            <a:spLocks noGrp="1"/>
          </p:cNvSpPr>
          <p:nvPr>
            <p:ph type="body" sz="quarter" idx="46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1048775" name="AutoShape 7"/>
          <p:cNvSpPr>
            <a:spLocks noGrp="1"/>
          </p:cNvSpPr>
          <p:nvPr>
            <p:ph type="body" sz="quarter" idx="47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92098DCC-5C81-440B-AD54-B748D0ECC8D0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ICTURE_WITH_CAPTIO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3" name="AutoShape 2"/>
          <p:cNvSpPr>
            <a:spLocks noGrp="1"/>
          </p:cNvSpPr>
          <p:nvPr>
            <p:ph type="body" sz="quarter" idx="48" hasCustomPrompt="1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b">
            <a:normAutofit/>
          </a:bodyPr>
          <a:lstStyle>
            <a:lvl1pPr algn="l">
              <a:lnSpc>
                <a:spcPct val="91666"/>
              </a:lnSpc>
              <a:defRPr sz="24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1048744" name="AutoShape 3"/>
          <p:cNvSpPr>
            <a:spLocks noGrp="1"/>
          </p:cNvSpPr>
          <p:nvPr>
            <p:ph type="pic" sz="quarter" idx="49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  <a:endParaRPr/>
          </a:p>
        </p:txBody>
      </p:sp>
      <p:sp>
        <p:nvSpPr>
          <p:cNvPr id="1048745" name="AutoShape 4"/>
          <p:cNvSpPr>
            <a:spLocks noGrp="1"/>
          </p:cNvSpPr>
          <p:nvPr>
            <p:ph type="body" sz="quarter" idx="50" hasCustomPrompt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12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228600" algn="l">
              <a:lnSpc>
                <a:spcPct val="91666"/>
              </a:lnSpc>
              <a:spcBef>
                <a:spcPts val="800"/>
              </a:spcBef>
            </a:pPr>
            <a:r>
              <a:rPr lang="en-US" sz="12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1048746" name="AutoShape 5"/>
          <p:cNvSpPr>
            <a:spLocks noGrp="1"/>
          </p:cNvSpPr>
          <p:nvPr>
            <p:ph type="body" sz="quarter" idx="5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1048747" name="AutoShape 6"/>
          <p:cNvSpPr>
            <a:spLocks noGrp="1"/>
          </p:cNvSpPr>
          <p:nvPr>
            <p:ph type="body" sz="quarter" idx="5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1048748" name="AutoShape 7"/>
          <p:cNvSpPr>
            <a:spLocks noGrp="1"/>
          </p:cNvSpPr>
          <p:nvPr>
            <p:ph type="body" sz="quarter" idx="5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DB37E6B2-7E3E-4079-A291-FE1F292CCA62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AutoShape 2"/>
          <p:cNvSpPr>
            <a:spLocks noGrp="1"/>
          </p:cNvSpPr>
          <p:nvPr>
            <p:ph type="body" sz="quarter" idx="54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1048750" name="AutoShape 3"/>
          <p:cNvSpPr>
            <a:spLocks noGrp="1"/>
          </p:cNvSpPr>
          <p:nvPr>
            <p:ph type="body" sz="quarter" idx="55" hasCustomPrompt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1048751" name="AutoShape 4"/>
          <p:cNvSpPr>
            <a:spLocks noGrp="1"/>
          </p:cNvSpPr>
          <p:nvPr>
            <p:ph type="body" sz="quarter" idx="56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1048752" name="AutoShape 5"/>
          <p:cNvSpPr>
            <a:spLocks noGrp="1"/>
          </p:cNvSpPr>
          <p:nvPr>
            <p:ph type="body" sz="quarter" idx="57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1048753" name="AutoShape 6"/>
          <p:cNvSpPr>
            <a:spLocks noGrp="1"/>
          </p:cNvSpPr>
          <p:nvPr>
            <p:ph type="body" sz="quarter" idx="58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8753A280-A9E4-4050-AEC8-D33D42D5CDD4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VERTICAL_TITLE_AND_VERTICA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AutoShape 2"/>
          <p:cNvSpPr>
            <a:spLocks noGrp="1"/>
          </p:cNvSpPr>
          <p:nvPr>
            <p:ph type="body" sz="quarter" idx="59" hasCustomPrompt="1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91666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91666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1048755" name="AutoShape 3"/>
          <p:cNvSpPr>
            <a:spLocks noGrp="1"/>
          </p:cNvSpPr>
          <p:nvPr>
            <p:ph type="body" sz="quarter" idx="60" hasCustomPrompt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91666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457200" indent="-317500" algn="l">
              <a:lnSpc>
                <a:spcPct val="91666"/>
              </a:lnSpc>
              <a:spcBef>
                <a:spcPts val="800"/>
              </a:spcBef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1048756" name="AutoShape 4"/>
          <p:cNvSpPr>
            <a:spLocks noGrp="1"/>
          </p:cNvSpPr>
          <p:nvPr>
            <p:ph type="body" sz="quarter" idx="61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1048757" name="AutoShape 5"/>
          <p:cNvSpPr>
            <a:spLocks noGrp="1"/>
          </p:cNvSpPr>
          <p:nvPr>
            <p:ph type="body" sz="quarter" idx="62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1048758" name="AutoShape 6"/>
          <p:cNvSpPr>
            <a:spLocks noGrp="1"/>
          </p:cNvSpPr>
          <p:nvPr>
            <p:ph type="body" sz="quarter" idx="63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5CCDA68D-5819-455B-B82C-9C1A26CEBFE0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8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1048789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8790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8791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8792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主题​​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5" name="AutoShape 1"/>
          <p:cNvSpPr>
            <a:spLocks noGrp="1"/>
          </p:cNvSpPr>
          <p:nvPr>
            <p:ph type="body" sz="quarter" idx="1" hasCustomPrompt="1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rmAutofit/>
          </a:bodyPr>
          <a:lstStyle>
            <a:lvl1pPr algn="l">
              <a:lnSpc>
                <a:spcPct val="100000"/>
              </a:lnSpc>
              <a:defRPr sz="3300" b="1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33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title</a:t>
            </a:r>
          </a:p>
        </p:txBody>
      </p:sp>
      <p:sp>
        <p:nvSpPr>
          <p:cNvPr id="1048726" name="AutoShape 2"/>
          <p:cNvSpPr>
            <a:spLocks noGrp="1"/>
          </p:cNvSpPr>
          <p:nvPr>
            <p:ph type="body" sz="quarter" idx="2" hasCustomPrompt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t">
            <a:normAutofit/>
          </a:bodyPr>
          <a:lstStyle>
            <a:lvl1pPr algn="l">
              <a:lnSpc>
                <a:spcPct val="100000"/>
              </a:lnSpc>
              <a:defRPr sz="21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Click to add text</a:t>
            </a:r>
          </a:p>
        </p:txBody>
      </p:sp>
      <p:sp>
        <p:nvSpPr>
          <p:cNvPr id="1048727" name="AutoShape 3"/>
          <p:cNvSpPr>
            <a:spLocks noGrp="1"/>
          </p:cNvSpPr>
          <p:nvPr>
            <p:ph type="body" sz="quarter" idx="3" hasCustomPrompt="1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l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</a:p>
        </p:txBody>
      </p:sp>
      <p:sp>
        <p:nvSpPr>
          <p:cNvPr id="1048728" name="AutoShape 4"/>
          <p:cNvSpPr>
            <a:spLocks noGrp="1"/>
          </p:cNvSpPr>
          <p:nvPr>
            <p:ph type="body" sz="quarter" idx="4" hasCustomPrompt="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ctr">
              <a:lnSpc>
                <a:spcPct val="100000"/>
              </a:lnSpc>
              <a:defRPr sz="9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marL="0" indent="0" algn="ctr">
              <a:lnSpc>
                <a:spcPct val="100000"/>
              </a:lnSpc>
            </a:pPr>
            <a:r>
              <a:rPr lang="en-US"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Footer</a:t>
            </a:r>
          </a:p>
        </p:txBody>
      </p:sp>
      <p:sp>
        <p:nvSpPr>
          <p:cNvPr id="1048729" name="AutoShape 6"/>
          <p:cNvSpPr>
            <a:spLocks noGrp="1"/>
          </p:cNvSpPr>
          <p:nvPr>
            <p:ph type="body" sz="quarter" idx="5" hasCustomPrompt="1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68575" tIns="34275" rIns="68575" bIns="34275" anchor="ctr">
            <a:noAutofit/>
          </a:bodyPr>
          <a:lstStyle>
            <a:lvl1pPr algn="r">
              <a:lnSpc>
                <a:spcPct val="100000"/>
              </a:lnSpc>
              <a:defRPr sz="900" b="0" i="0" u="none" strike="noStrike" spc="0">
                <a:solidFill>
                  <a:srgbClr val="888888">
                    <a:alpha val="100000"/>
                  </a:srgbClr>
                </a:solidFill>
                <a:latin typeface="Arial"/>
              </a:defRPr>
            </a:lvl1pPr>
          </a:lstStyle>
          <a:p>
            <a:pPr marL="0" indent="0" algn="r">
              <a:lnSpc>
                <a:spcPct val="100000"/>
              </a:lnSpc>
            </a:pPr>
            <a:fld id="{1D599B96-6793-49BB-9F3E-5A33A959EB03}" type="slidenum">
              <a:rPr sz="900" b="0" i="0" u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900" b="0" i="0" u="none" strike="noStrik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AutoShape 2"/>
          <p:cNvSpPr/>
          <p:nvPr/>
        </p:nvSpPr>
        <p:spPr>
          <a:xfrm>
            <a:off x="0" y="0"/>
            <a:ext cx="12192000" cy="101600"/>
          </a:xfrm>
          <a:prstGeom prst="roundRect">
            <a:avLst>
              <a:gd name="adj" fmla="val 0"/>
            </a:avLst>
          </a:prstGeom>
          <a:solidFill>
            <a:srgbClr val="003087">
              <a:alpha val="100000"/>
            </a:srgbClr>
          </a:solidFill>
          <a:ln w="127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48577" name="AutoShape 3"/>
          <p:cNvSpPr txBox="1"/>
          <p:nvPr/>
        </p:nvSpPr>
        <p:spPr>
          <a:xfrm>
            <a:off x="1016000" y="2032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4800" b="1" i="0" u="none" strike="noStrike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GOAT_666 在线旅游平台</a:t>
            </a:r>
            <a:endParaRPr lang="en-US" sz="1100"/>
          </a:p>
        </p:txBody>
      </p:sp>
      <p:sp>
        <p:nvSpPr>
          <p:cNvPr id="1048578" name="AutoShape 4"/>
          <p:cNvSpPr txBox="1"/>
          <p:nvPr/>
        </p:nvSpPr>
        <p:spPr>
          <a:xfrm>
            <a:off x="1016000" y="317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软件需求规格说明书（SRS）V1.4 汇报</a:t>
            </a:r>
            <a:endParaRPr lang="en-US" sz="1100"/>
          </a:p>
        </p:txBody>
      </p:sp>
      <p:cxnSp>
        <p:nvCxnSpPr>
          <p:cNvPr id="3145728" name="Connector 5"/>
          <p:cNvCxnSpPr>
            <a:cxnSpLocks/>
          </p:cNvCxnSpPr>
          <p:nvPr/>
        </p:nvCxnSpPr>
        <p:spPr>
          <a:xfrm rot="-21484">
            <a:off x="1016020" y="4184650"/>
            <a:ext cx="203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03087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1048579" name="AutoShape 6"/>
          <p:cNvSpPr txBox="1"/>
          <p:nvPr/>
        </p:nvSpPr>
        <p:spPr>
          <a:xfrm>
            <a:off x="1016000" y="4572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软件工程课程第三次项目作业 · 需求分析阶段交付物</a:t>
            </a:r>
            <a:endParaRPr lang="en-US" sz="1100"/>
          </a:p>
        </p:txBody>
      </p:sp>
      <p:sp>
        <p:nvSpPr>
          <p:cNvPr id="1048580" name="AutoShape 7"/>
          <p:cNvSpPr txBox="1"/>
          <p:nvPr/>
        </p:nvSpPr>
        <p:spPr>
          <a:xfrm>
            <a:off x="1016000" y="5207000"/>
            <a:ext cx="10160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项目团队：GOAT_666（共13人）</a:t>
            </a:r>
            <a:endParaRPr lang="en-US" sz="11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4E8B592-E5B6-05A5-ED0B-E6057C2F9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5" y="147175"/>
            <a:ext cx="1381125" cy="6454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D703D24-04E4-85A8-7BA6-6DBBA23EA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325" y="211216"/>
            <a:ext cx="609600" cy="60626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316C05C0-E62A-DBF3-F366-DB4583C4BB98}"/>
              </a:ext>
            </a:extLst>
          </p:cNvPr>
          <p:cNvSpPr>
            <a:spLocks noGrp="1"/>
          </p:cNvSpPr>
          <p:nvPr/>
        </p:nvSpPr>
        <p:spPr>
          <a:xfrm>
            <a:off x="2286000" y="352425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>
              <a:buNone/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dirty="0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MIEC EE308FZ</a:t>
            </a:r>
            <a:endParaRPr sz="1725" b="0" dirty="0">
              <a:solidFill>
                <a:srgbClr val="C8DCE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AutoShape 2"/>
          <p:cNvSpPr txBox="1"/>
          <p:nvPr/>
        </p:nvSpPr>
        <p:spPr>
          <a:xfrm>
            <a:off x="1016000" y="762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3200" b="1" i="0" u="none" strike="noStrike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汇报目录</a:t>
            </a:r>
            <a:endParaRPr lang="en-US" sz="1100"/>
          </a:p>
        </p:txBody>
      </p:sp>
      <p:cxnSp>
        <p:nvCxnSpPr>
          <p:cNvPr id="3145729" name="Connector 3"/>
          <p:cNvCxnSpPr>
            <a:cxnSpLocks/>
          </p:cNvCxnSpPr>
          <p:nvPr/>
        </p:nvCxnSpPr>
        <p:spPr>
          <a:xfrm rot="-4297">
            <a:off x="1016004" y="1517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88" name="AutoShape 4"/>
          <p:cNvSpPr txBox="1"/>
          <p:nvPr/>
        </p:nvSpPr>
        <p:spPr>
          <a:xfrm>
            <a:off x="1016000" y="2032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sp>
        <p:nvSpPr>
          <p:cNvPr id="1048589" name="AutoShape 5"/>
          <p:cNvSpPr txBox="1"/>
          <p:nvPr/>
        </p:nvSpPr>
        <p:spPr>
          <a:xfrm>
            <a:off x="1905000" y="2032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项目背景与问题定义</a:t>
            </a:r>
            <a:endParaRPr lang="en-US" sz="1100"/>
          </a:p>
        </p:txBody>
      </p:sp>
      <p:sp>
        <p:nvSpPr>
          <p:cNvPr id="1048590" name="AutoShape 6"/>
          <p:cNvSpPr txBox="1"/>
          <p:nvPr/>
        </p:nvSpPr>
        <p:spPr>
          <a:xfrm>
            <a:off x="1905000" y="2476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当前旅游信息分散、预订链路模拟缺失的痛点</a:t>
            </a:r>
            <a:endParaRPr lang="en-US" sz="1100"/>
          </a:p>
        </p:txBody>
      </p:sp>
      <p:sp>
        <p:nvSpPr>
          <p:cNvPr id="1048591" name="AutoShape 7"/>
          <p:cNvSpPr txBox="1"/>
          <p:nvPr/>
        </p:nvSpPr>
        <p:spPr>
          <a:xfrm>
            <a:off x="1016000" y="3175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sp>
        <p:nvSpPr>
          <p:cNvPr id="1048592" name="AutoShape 8"/>
          <p:cNvSpPr txBox="1"/>
          <p:nvPr/>
        </p:nvSpPr>
        <p:spPr>
          <a:xfrm>
            <a:off x="1905000" y="3175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产品目标与范围边界</a:t>
            </a:r>
            <a:endParaRPr lang="en-US" sz="1100"/>
          </a:p>
        </p:txBody>
      </p:sp>
      <p:sp>
        <p:nvSpPr>
          <p:cNvPr id="1048593" name="AutoShape 9"/>
          <p:cNvSpPr txBox="1"/>
          <p:nvPr/>
        </p:nvSpPr>
        <p:spPr>
          <a:xfrm>
            <a:off x="1905000" y="3619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初版功能清单、扩展功能与明确排除项</a:t>
            </a:r>
            <a:endParaRPr lang="en-US" sz="1100"/>
          </a:p>
        </p:txBody>
      </p:sp>
      <p:sp>
        <p:nvSpPr>
          <p:cNvPr id="1048594" name="AutoShape 10"/>
          <p:cNvSpPr txBox="1"/>
          <p:nvPr/>
        </p:nvSpPr>
        <p:spPr>
          <a:xfrm>
            <a:off x="1016000" y="4318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sp>
        <p:nvSpPr>
          <p:cNvPr id="1048595" name="AutoShape 11"/>
          <p:cNvSpPr txBox="1"/>
          <p:nvPr/>
        </p:nvSpPr>
        <p:spPr>
          <a:xfrm>
            <a:off x="1905000" y="4318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用户角色与核心场景</a:t>
            </a:r>
            <a:endParaRPr lang="en-US" sz="1100"/>
          </a:p>
        </p:txBody>
      </p:sp>
      <p:sp>
        <p:nvSpPr>
          <p:cNvPr id="1048596" name="AutoShape 12"/>
          <p:cNvSpPr txBox="1"/>
          <p:nvPr/>
        </p:nvSpPr>
        <p:spPr>
          <a:xfrm>
            <a:off x="1905000" y="476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游客、注册用户、管理员三类角色与6个核心用户场景</a:t>
            </a:r>
            <a:endParaRPr lang="en-US" sz="1100"/>
          </a:p>
        </p:txBody>
      </p:sp>
      <p:sp>
        <p:nvSpPr>
          <p:cNvPr id="1048597" name="AutoShape 13"/>
          <p:cNvSpPr txBox="1"/>
          <p:nvPr/>
        </p:nvSpPr>
        <p:spPr>
          <a:xfrm>
            <a:off x="6604000" y="2032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sp>
        <p:nvSpPr>
          <p:cNvPr id="1048598" name="AutoShape 14"/>
          <p:cNvSpPr txBox="1"/>
          <p:nvPr/>
        </p:nvSpPr>
        <p:spPr>
          <a:xfrm>
            <a:off x="7493000" y="2032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类模型与功能需求清单</a:t>
            </a:r>
            <a:endParaRPr lang="en-US" sz="1100"/>
          </a:p>
        </p:txBody>
      </p:sp>
      <p:sp>
        <p:nvSpPr>
          <p:cNvPr id="1048599" name="AutoShape 15"/>
          <p:cNvSpPr txBox="1"/>
          <p:nvPr/>
        </p:nvSpPr>
        <p:spPr>
          <a:xfrm>
            <a:off x="7493000" y="2476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整体类图关系、12项功能需求的初版与扩展划分</a:t>
            </a:r>
            <a:endParaRPr lang="en-US" sz="1100"/>
          </a:p>
        </p:txBody>
      </p:sp>
      <p:sp>
        <p:nvSpPr>
          <p:cNvPr id="1048600" name="AutoShape 16"/>
          <p:cNvSpPr txBox="1"/>
          <p:nvPr/>
        </p:nvSpPr>
        <p:spPr>
          <a:xfrm>
            <a:off x="6604000" y="3175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endParaRPr lang="en-US" sz="1100"/>
          </a:p>
        </p:txBody>
      </p:sp>
      <p:sp>
        <p:nvSpPr>
          <p:cNvPr id="1048601" name="AutoShape 17"/>
          <p:cNvSpPr txBox="1"/>
          <p:nvPr/>
        </p:nvSpPr>
        <p:spPr>
          <a:xfrm>
            <a:off x="7493000" y="3175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核心规则与订单状态机</a:t>
            </a:r>
            <a:endParaRPr lang="en-US" sz="1100"/>
          </a:p>
        </p:txBody>
      </p:sp>
      <p:sp>
        <p:nvSpPr>
          <p:cNvPr id="1048602" name="AutoShape 18"/>
          <p:cNvSpPr txBox="1"/>
          <p:nvPr/>
        </p:nvSpPr>
        <p:spPr>
          <a:xfrm>
            <a:off x="7493000" y="3619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库存扣减、幂等防重、阶梯退款的关键设计决策</a:t>
            </a:r>
            <a:endParaRPr lang="en-US" sz="1100"/>
          </a:p>
        </p:txBody>
      </p:sp>
      <p:sp>
        <p:nvSpPr>
          <p:cNvPr id="1048603" name="AutoShape 19"/>
          <p:cNvSpPr txBox="1"/>
          <p:nvPr/>
        </p:nvSpPr>
        <p:spPr>
          <a:xfrm>
            <a:off x="6604000" y="4318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id="1048604" name="AutoShape 20"/>
          <p:cNvSpPr txBox="1"/>
          <p:nvPr/>
        </p:nvSpPr>
        <p:spPr>
          <a:xfrm>
            <a:off x="7493000" y="4318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原型、验收与后续规划</a:t>
            </a:r>
            <a:endParaRPr lang="en-US" sz="1100"/>
          </a:p>
        </p:txBody>
      </p:sp>
      <p:sp>
        <p:nvSpPr>
          <p:cNvPr id="1048605" name="AutoShape 21"/>
          <p:cNvSpPr txBox="1"/>
          <p:nvPr/>
        </p:nvSpPr>
        <p:spPr>
          <a:xfrm>
            <a:off x="7493000" y="4762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页面原型清单、验收测试用例、待交付项与后续迭代</a:t>
            </a:r>
            <a:endParaRPr lang="en-US" sz="11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11C5F4C-9264-6C0A-5B31-7F52766D34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5" y="147175"/>
            <a:ext cx="1381125" cy="6454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C998328-47ED-437E-000F-6ABC9DD176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325" y="211216"/>
            <a:ext cx="609600" cy="60626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6C12668-5285-B368-77F9-8BE72F6C3092}"/>
              </a:ext>
            </a:extLst>
          </p:cNvPr>
          <p:cNvSpPr>
            <a:spLocks noGrp="1"/>
          </p:cNvSpPr>
          <p:nvPr/>
        </p:nvSpPr>
        <p:spPr>
          <a:xfrm>
            <a:off x="2286000" y="352425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>
              <a:buNone/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dirty="0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MIEC EE308FZ</a:t>
            </a:r>
            <a:endParaRPr sz="1725" b="0" dirty="0">
              <a:solidFill>
                <a:srgbClr val="C8DCE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AutoShape 2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项目背景：当前在线旅游场景存在四个核心痛点</a:t>
            </a:r>
            <a:endParaRPr lang="en-US" sz="1100"/>
          </a:p>
        </p:txBody>
      </p:sp>
      <p:cxnSp>
        <p:nvCxnSpPr>
          <p:cNvPr id="3145730" name="Connector 3"/>
          <p:cNvCxnSpPr>
            <a:cxnSpLocks/>
          </p:cNvCxnSpPr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613" name="AutoShape 4"/>
          <p:cNvSpPr/>
          <p:nvPr/>
        </p:nvSpPr>
        <p:spPr>
          <a:xfrm>
            <a:off x="914400" y="1778000"/>
            <a:ext cx="2997200" cy="23368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F528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sp>
        <p:nvSpPr>
          <p:cNvPr id="1048614" name="AutoShape 5"/>
          <p:cNvSpPr txBox="1"/>
          <p:nvPr/>
        </p:nvSpPr>
        <p:spPr>
          <a:xfrm>
            <a:off x="1016000" y="190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痛点1 · 信息分散</a:t>
            </a:r>
            <a:endParaRPr lang="en-US" sz="1100"/>
          </a:p>
        </p:txBody>
      </p:sp>
      <p:sp>
        <p:nvSpPr>
          <p:cNvPr id="1048615" name="AutoShape 6"/>
          <p:cNvSpPr txBox="1"/>
          <p:nvPr/>
        </p:nvSpPr>
        <p:spPr>
          <a:xfrm>
            <a:off x="1016000" y="2413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目的地、景点、攻略、酒店、门票信息散落在多个平台，游客需要跨站反复检索，信息获取成本高、对比困难。</a:t>
            </a:r>
            <a:endParaRPr lang="en-US" sz="1100"/>
          </a:p>
        </p:txBody>
      </p:sp>
      <p:sp>
        <p:nvSpPr>
          <p:cNvPr id="1048616" name="AutoShape 7"/>
          <p:cNvSpPr/>
          <p:nvPr/>
        </p:nvSpPr>
        <p:spPr>
          <a:xfrm>
            <a:off x="3962400" y="1778000"/>
            <a:ext cx="2997200" cy="23368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F528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sp>
        <p:nvSpPr>
          <p:cNvPr id="1048617" name="AutoShape 8"/>
          <p:cNvSpPr txBox="1"/>
          <p:nvPr/>
        </p:nvSpPr>
        <p:spPr>
          <a:xfrm>
            <a:off x="4064000" y="190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痛点2 · 流程不透明</a:t>
            </a:r>
            <a:endParaRPr lang="en-US" sz="1100"/>
          </a:p>
        </p:txBody>
      </p:sp>
      <p:sp>
        <p:nvSpPr>
          <p:cNvPr id="1048618" name="AutoShape 9"/>
          <p:cNvSpPr txBox="1"/>
          <p:nvPr/>
        </p:nvSpPr>
        <p:spPr>
          <a:xfrm>
            <a:off x="4064000" y="2413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普通用户没有在无真实资金风险下走完全部预订流程的环境，不熟悉下单、退改的完整链路，实际使用时容易出错。</a:t>
            </a:r>
            <a:endParaRPr lang="en-US" sz="1100"/>
          </a:p>
        </p:txBody>
      </p:sp>
      <p:sp>
        <p:nvSpPr>
          <p:cNvPr id="1048619" name="AutoShape 10"/>
          <p:cNvSpPr/>
          <p:nvPr/>
        </p:nvSpPr>
        <p:spPr>
          <a:xfrm>
            <a:off x="7010400" y="1778000"/>
            <a:ext cx="2997200" cy="2336800"/>
          </a:xfrm>
          <a:prstGeom prst="roundRect">
            <a:avLst>
              <a:gd name="adj" fmla="val 4347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F528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sp>
        <p:nvSpPr>
          <p:cNvPr id="1048620" name="AutoShape 11"/>
          <p:cNvSpPr txBox="1"/>
          <p:nvPr/>
        </p:nvSpPr>
        <p:spPr>
          <a:xfrm>
            <a:off x="7112000" y="190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痛点3 · 内容无沉淀</a:t>
            </a:r>
            <a:endParaRPr lang="en-US" sz="1100"/>
          </a:p>
        </p:txBody>
      </p:sp>
      <p:sp>
        <p:nvSpPr>
          <p:cNvPr id="1048621" name="AutoShape 12"/>
          <p:cNvSpPr txBox="1"/>
          <p:nvPr/>
        </p:nvSpPr>
        <p:spPr>
          <a:xfrm>
            <a:off x="7112000" y="2413000"/>
            <a:ext cx="279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</a:pPr>
            <a:r>
              <a:rPr lang="en-US" sz="1400" b="0" i="0" u="none" strike="noStrike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缺少统一的社区空间留存游记、评论、评分、收藏类用户内容，用户出行后的体验分享没有统一出口。</a:t>
            </a:r>
            <a:endParaRPr lang="en-US" sz="1100"/>
          </a:p>
        </p:txBody>
      </p:sp>
      <p:sp>
        <p:nvSpPr>
          <p:cNvPr id="1048622" name="AutoShape 13"/>
          <p:cNvSpPr txBox="1"/>
          <p:nvPr/>
        </p:nvSpPr>
        <p:spPr>
          <a:xfrm>
            <a:off x="1016000" y="4572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</a:pPr>
            <a:r>
              <a:rPr lang="en-US" sz="1600" b="1" i="0" u="none" strike="noStrike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平台目标：</a:t>
            </a:r>
            <a:r>
              <a:rPr lang="en-US" sz="1600" b="0" i="0" u="none" strike="noStrike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打通「查找信息 → 模拟预订 → 出行记录 → 社区互动」的完整闭环，为教学场景提供无真实支付风险的在线旅游全流程体验。</a:t>
            </a:r>
            <a:endParaRPr lang="en-US" sz="110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218579-B41A-4CEE-7973-E188EB687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5" y="147175"/>
            <a:ext cx="1381125" cy="6454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BA04AA57-59A3-4534-7703-52E3D31ED4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325" y="211216"/>
            <a:ext cx="609600" cy="60626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1D2A3C5-8C8A-B6C7-3626-8C96ED1FBE5F}"/>
              </a:ext>
            </a:extLst>
          </p:cNvPr>
          <p:cNvSpPr>
            <a:spLocks noGrp="1"/>
          </p:cNvSpPr>
          <p:nvPr/>
        </p:nvSpPr>
        <p:spPr>
          <a:xfrm>
            <a:off x="2286000" y="352425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>
              <a:buNone/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dirty="0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MIEC EE308FZ</a:t>
            </a:r>
            <a:endParaRPr sz="1725" b="0" dirty="0">
              <a:solidFill>
                <a:srgbClr val="C8DCE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AutoShape 2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范围边界：初版交付、扩展规划与明确排除项</a:t>
            </a:r>
            <a:endParaRPr lang="en-US" sz="1100"/>
          </a:p>
        </p:txBody>
      </p:sp>
      <p:cxnSp>
        <p:nvCxnSpPr>
          <p:cNvPr id="3145731" name="Connector 3"/>
          <p:cNvCxnSpPr>
            <a:cxnSpLocks/>
          </p:cNvCxnSpPr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4194304" name="Table 4"/>
          <p:cNvGraphicFramePr>
            <a:graphicFrameLocks noGrp="1"/>
          </p:cNvGraphicFramePr>
          <p:nvPr/>
        </p:nvGraphicFramePr>
        <p:xfrm>
          <a:off x="1016000" y="1905000"/>
          <a:ext cx="10160000" cy="355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范围分类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具体内容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>
                          <a:solidFill>
                            <a:srgbClr val="003087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初版必做功能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300" b="0" i="0" u="none" strike="noStrike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账号注册/登录/登出/资料编辑；目的地/景点/攻略浏览与搜索；酒店、门票产品查询；模拟下单、订单查询、取消与模拟退款；游记发布、评论/评分/收藏；管理员对景点、攻略、产品与用户内容的维护。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后续扩展功能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300" b="0" i="0" u="none" strike="noStrike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基于用户偏好的个性化推荐（FR-10）；内容审核与平台使用统计（FR-11）；基于平台内容生成行程建议的AI旅行助手（FR-12）。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33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>
                          <a:solidFill>
                            <a:srgbClr val="C8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明确排除项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300" b="0" i="0" u="none" strike="noStrike">
                          <a:solidFill>
                            <a:srgbClr val="1E293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真实支付与资金退款；线下核销流程；多语言/多币种支持；原生移动App（初版仅Web浏览器访问）；第三方OTA平台对接。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6B1BDE4F-820A-AC56-A014-469B3B0D97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5" y="147175"/>
            <a:ext cx="1381125" cy="6454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02EB654-57B1-6A3A-EFC6-0DFC94716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325" y="211216"/>
            <a:ext cx="609600" cy="60626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A974AD2-2253-68DF-1120-F78F38D490A9}"/>
              </a:ext>
            </a:extLst>
          </p:cNvPr>
          <p:cNvSpPr>
            <a:spLocks noGrp="1"/>
          </p:cNvSpPr>
          <p:nvPr/>
        </p:nvSpPr>
        <p:spPr>
          <a:xfrm>
            <a:off x="2286000" y="352425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>
              <a:buNone/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dirty="0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MIEC EE308FZ</a:t>
            </a:r>
            <a:endParaRPr sz="1725" b="0" dirty="0">
              <a:solidFill>
                <a:srgbClr val="C8DCE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AutoShape 2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三类用户角色：权限分层清晰，无需登录即可完成信息浏览</a:t>
            </a:r>
            <a:endParaRPr lang="en-US" sz="1100"/>
          </a:p>
        </p:txBody>
      </p:sp>
      <p:cxnSp>
        <p:nvCxnSpPr>
          <p:cNvPr id="3145732" name="Connector 3"/>
          <p:cNvCxnSpPr>
            <a:cxnSpLocks/>
          </p:cNvCxnSpPr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637" name="AutoShape 4"/>
          <p:cNvSpPr/>
          <p:nvPr/>
        </p:nvSpPr>
        <p:spPr>
          <a:xfrm>
            <a:off x="1016000" y="1905000"/>
            <a:ext cx="3048000" cy="3556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48638" name="AutoShape 5"/>
          <p:cNvSpPr txBox="1"/>
          <p:nvPr/>
        </p:nvSpPr>
        <p:spPr>
          <a:xfrm>
            <a:off x="1270000" y="21590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游客（未登录）</a:t>
            </a:r>
            <a:endParaRPr lang="en-US" sz="1100"/>
          </a:p>
        </p:txBody>
      </p:sp>
      <p:sp>
        <p:nvSpPr>
          <p:cNvPr id="1048639" name="AutoShape 6"/>
          <p:cNvSpPr txBox="1"/>
          <p:nvPr/>
        </p:nvSpPr>
        <p:spPr>
          <a:xfrm>
            <a:off x="1270000" y="2794000"/>
            <a:ext cx="254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可浏览目的地、景点、攻略列表与详情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可查看酒店/门票产品、价格与可用库存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不可下单、不可发布内容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触发下单操作时引导登录</a:t>
            </a:r>
          </a:p>
        </p:txBody>
      </p:sp>
      <p:sp>
        <p:nvSpPr>
          <p:cNvPr id="1048640" name="AutoShape 7"/>
          <p:cNvSpPr/>
          <p:nvPr/>
        </p:nvSpPr>
        <p:spPr>
          <a:xfrm>
            <a:off x="4572000" y="1905000"/>
            <a:ext cx="3048000" cy="3556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48641" name="AutoShape 8"/>
          <p:cNvSpPr txBox="1"/>
          <p:nvPr/>
        </p:nvSpPr>
        <p:spPr>
          <a:xfrm>
            <a:off x="4826000" y="21590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注册用户（已登录）</a:t>
            </a:r>
            <a:endParaRPr lang="en-US" sz="1100"/>
          </a:p>
        </p:txBody>
      </p:sp>
      <p:sp>
        <p:nvSpPr>
          <p:cNvPr id="1048642" name="AutoShape 9"/>
          <p:cNvSpPr txBox="1"/>
          <p:nvPr/>
        </p:nvSpPr>
        <p:spPr>
          <a:xfrm>
            <a:off x="4826000" y="2794000"/>
            <a:ext cx="254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包含游客全部浏览权限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可选择日期/数量完成模拟下单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可查询、取消本人订单、查看模拟退款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可发布游记、发表评论、打分、收藏内容</a:t>
            </a:r>
          </a:p>
        </p:txBody>
      </p:sp>
      <p:sp>
        <p:nvSpPr>
          <p:cNvPr id="1048643" name="AutoShape 10"/>
          <p:cNvSpPr/>
          <p:nvPr/>
        </p:nvSpPr>
        <p:spPr>
          <a:xfrm>
            <a:off x="8128000" y="1905000"/>
            <a:ext cx="3048000" cy="3556000"/>
          </a:xfrm>
          <a:prstGeom prst="roundRect">
            <a:avLst>
              <a:gd name="adj" fmla="val 0"/>
            </a:avLst>
          </a:prstGeom>
          <a:solidFill>
            <a:srgbClr val="F8FAFC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>
            <a:noAutofit/>
          </a:bodyPr>
          <a:lstStyle/>
          <a:p>
            <a:pPr marL="0" indent="0" algn="ctr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lang="en-US" sz="1100"/>
          </a:p>
        </p:txBody>
      </p:sp>
      <p:sp>
        <p:nvSpPr>
          <p:cNvPr id="1048644" name="AutoShape 11"/>
          <p:cNvSpPr txBox="1"/>
          <p:nvPr/>
        </p:nvSpPr>
        <p:spPr>
          <a:xfrm>
            <a:off x="8382000" y="2159000"/>
            <a:ext cx="2540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管理员</a:t>
            </a:r>
            <a:endParaRPr lang="en-US" sz="1100"/>
          </a:p>
        </p:txBody>
      </p:sp>
      <p:sp>
        <p:nvSpPr>
          <p:cNvPr id="1048645" name="AutoShape 12"/>
          <p:cNvSpPr txBox="1"/>
          <p:nvPr/>
        </p:nvSpPr>
        <p:spPr>
          <a:xfrm>
            <a:off x="8382000" y="2794000"/>
            <a:ext cx="254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可新增/编辑/下架景点、攻略、产品</a:t>
            </a:r>
            <a:endParaRPr lang="en-US" sz="1100"/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可隐藏违规游记、评论内容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可查看平台整体统计数据（扩展）</a:t>
            </a:r>
          </a:p>
          <a:p>
            <a:pPr marL="0" indent="0" algn="l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普通用户访问后台直接提示无权限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D6E204B-2E65-19BF-C021-9751ABEBD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5" y="147175"/>
            <a:ext cx="1381125" cy="645450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394C9F35-593C-08C8-D7A2-38ADDBBE8B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325" y="211216"/>
            <a:ext cx="609600" cy="60626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B7AE24C-C3A4-805E-AEB8-DA16481B0EC5}"/>
              </a:ext>
            </a:extLst>
          </p:cNvPr>
          <p:cNvSpPr>
            <a:spLocks noGrp="1"/>
          </p:cNvSpPr>
          <p:nvPr/>
        </p:nvSpPr>
        <p:spPr>
          <a:xfrm>
            <a:off x="2286000" y="352425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>
              <a:buNone/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dirty="0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MIEC EE308FZ</a:t>
            </a:r>
            <a:endParaRPr sz="1725" b="0" dirty="0">
              <a:solidFill>
                <a:srgbClr val="C8DCE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AutoShape 2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6个核心用户场景覆盖全平台主流程</a:t>
            </a:r>
            <a:endParaRPr lang="en-US" sz="1100"/>
          </a:p>
        </p:txBody>
      </p:sp>
      <p:cxnSp>
        <p:nvCxnSpPr>
          <p:cNvPr id="3145733" name="Connector 3"/>
          <p:cNvCxnSpPr>
            <a:cxnSpLocks/>
          </p:cNvCxnSpPr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4194305" name="Table 4"/>
          <p:cNvGraphicFramePr>
            <a:graphicFrameLocks noGrp="1"/>
          </p:cNvGraphicFramePr>
          <p:nvPr/>
        </p:nvGraphicFramePr>
        <p:xfrm>
          <a:off x="1016000" y="1905000"/>
          <a:ext cx="10160000" cy="381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01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场景编号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场景名称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核心流程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SC-01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游客搜索景点攻略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首页输入关键词 → 返回目的地/景点/攻略结果 → 查看景点详情 → 打开相关攻略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SC-02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注册用户模拟下单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选择产品/日期/数量 → 校验登录与库存 → 扣减库存生成预订单 → 跳订单确认页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SC-03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发布游记与互动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撰写标题正文、上传图片 → 发布公开游记 → 其他用户可评论、打分、收藏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SC-04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管理员内容维护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维护景点/攻略/产品上下架 → 隐藏违规游记、评论；普通用户进后台返回无权限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61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SC-05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取消订单查看退款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校验订单归属与状态 → 按阶梯规则计算模拟退款 → 恢复库存 → 订单标记已取消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SC-06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AI旅行助手（扩展）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输入目的地、天数与偏好 → 基于平台内容生成行程建议，不直接操作订单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AB67FA45-61D0-9F60-9C35-0BA86EBA9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5" y="147175"/>
            <a:ext cx="1381125" cy="6454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C848143-B47C-7E59-E771-C90B296C8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325" y="211216"/>
            <a:ext cx="609600" cy="60626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9B5A973-9045-3FDC-4C9C-712AB5678F4F}"/>
              </a:ext>
            </a:extLst>
          </p:cNvPr>
          <p:cNvSpPr>
            <a:spLocks noGrp="1"/>
          </p:cNvSpPr>
          <p:nvPr/>
        </p:nvSpPr>
        <p:spPr>
          <a:xfrm>
            <a:off x="2286000" y="352425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>
              <a:buNone/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dirty="0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MIEC EE308FZ</a:t>
            </a:r>
            <a:endParaRPr sz="1725" b="0" dirty="0">
              <a:solidFill>
                <a:srgbClr val="C8DCE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AutoShape 2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整体类图：5组核心对象关系覆盖全部业务逻辑</a:t>
            </a:r>
            <a:endParaRPr lang="en-US" sz="1100"/>
          </a:p>
        </p:txBody>
      </p:sp>
      <p:cxnSp>
        <p:nvCxnSpPr>
          <p:cNvPr id="3145734" name="Connector 3"/>
          <p:cNvCxnSpPr>
            <a:cxnSpLocks/>
          </p:cNvCxnSpPr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660" name="AutoShape 4"/>
          <p:cNvSpPr txBox="1"/>
          <p:nvPr/>
        </p:nvSpPr>
        <p:spPr>
          <a:xfrm>
            <a:off x="1016000" y="18415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1. 用户 ↔ 订单</a:t>
            </a: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：一个注册用户持有0..*个订单，每个订单必须且仅属于一个用户（订单内携带userID），游客必须登录后才能下单。</a:t>
            </a:r>
            <a:endParaRPr lang="en-US" sz="1100"/>
          </a:p>
        </p:txBody>
      </p:sp>
      <p:sp>
        <p:nvSpPr>
          <p:cNvPr id="1048661" name="AutoShape 5"/>
          <p:cNvSpPr txBox="1"/>
          <p:nvPr/>
        </p:nvSpPr>
        <p:spPr>
          <a:xfrm>
            <a:off x="1016000" y="29845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2. 产品 ↔ 库存</a:t>
            </a: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：一个产品按日期维护多条库存记录（唯一键productID+date），下单时实时校验并扣减可用数，取消时按数量恢复。</a:t>
            </a:r>
            <a:endParaRPr lang="en-US" sz="1100"/>
          </a:p>
        </p:txBody>
      </p:sp>
      <p:sp>
        <p:nvSpPr>
          <p:cNvPr id="1048662" name="AutoShape 6"/>
          <p:cNvSpPr txBox="1"/>
          <p:nvPr/>
        </p:nvSpPr>
        <p:spPr>
          <a:xfrm>
            <a:off x="1016000" y="41275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3. 订单 ↔ 订单项</a:t>
            </a: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：一个订单包含1..*个订单项，每个订单项记录产品、使用日期、单价、数量、小计，订单总额为所有订单项小计之和。</a:t>
            </a:r>
            <a:endParaRPr lang="en-US" sz="1100"/>
          </a:p>
        </p:txBody>
      </p:sp>
      <p:sp>
        <p:nvSpPr>
          <p:cNvPr id="1048663" name="AutoShape 7"/>
          <p:cNvSpPr txBox="1"/>
          <p:nvPr/>
        </p:nvSpPr>
        <p:spPr>
          <a:xfrm>
            <a:off x="6096000" y="1841500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4. 目的地-景点-产品</a:t>
            </a: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：一个目的地包含0..*个景点；酒店产品关联目的地，门票产品关联景点，直接决定列表和详情的归属层级。</a:t>
            </a:r>
            <a:endParaRPr lang="en-US" sz="1100"/>
          </a:p>
        </p:txBody>
      </p:sp>
      <p:sp>
        <p:nvSpPr>
          <p:cNvPr id="1048664" name="AutoShape 8"/>
          <p:cNvSpPr txBox="1"/>
          <p:nvPr/>
        </p:nvSpPr>
        <p:spPr>
          <a:xfrm>
            <a:off x="6096000" y="2984500"/>
            <a:ext cx="508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33333"/>
              </a:lnSpc>
            </a:pPr>
            <a:r>
              <a:rPr lang="en-US" sz="1400" b="1" i="0" u="none" strike="noStrike">
                <a:solidFill>
                  <a:srgbClr val="003087"/>
                </a:solidFill>
                <a:latin typeface="Noto Sans SC"/>
                <a:ea typeface="Noto Sans SC"/>
                <a:cs typeface="Noto Sans SC"/>
                <a:sym typeface="Noto Sans SC"/>
              </a:rPr>
              <a:t>5. 社区互动对象</a:t>
            </a: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：评论、评分、收藏统一使用targetType+targetID多态关联，可指向景点、攻略、游记或产品；同一用户对同一目标仅能有一条评分、一条收藏，可修改或取消。</a:t>
            </a:r>
            <a:endParaRPr lang="en-US" sz="11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B700AC-48D5-CAD7-C317-697AF8FF6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5" y="147175"/>
            <a:ext cx="1381125" cy="6454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0DC15C49-F688-59D3-D71A-95CB3F4208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325" y="211216"/>
            <a:ext cx="609600" cy="60626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8C40587-1E34-62AC-ED14-B31E96331F00}"/>
              </a:ext>
            </a:extLst>
          </p:cNvPr>
          <p:cNvSpPr>
            <a:spLocks noGrp="1"/>
          </p:cNvSpPr>
          <p:nvPr/>
        </p:nvSpPr>
        <p:spPr>
          <a:xfrm>
            <a:off x="2286000" y="352425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>
              <a:buNone/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dirty="0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MIEC EE308FZ</a:t>
            </a:r>
            <a:endParaRPr sz="1725" b="0" dirty="0">
              <a:solidFill>
                <a:srgbClr val="C8DCE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AutoShape 2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12项功能需求：9项初版必做 + 3项后续扩展</a:t>
            </a:r>
            <a:endParaRPr lang="en-US" sz="1100"/>
          </a:p>
        </p:txBody>
      </p:sp>
      <p:cxnSp>
        <p:nvCxnSpPr>
          <p:cNvPr id="3145735" name="Connector 3"/>
          <p:cNvCxnSpPr>
            <a:cxnSpLocks/>
          </p:cNvCxnSpPr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4194306" name="Table 4"/>
          <p:cNvGraphicFramePr>
            <a:graphicFrameLocks noGrp="1"/>
          </p:cNvGraphicFramePr>
          <p:nvPr/>
        </p:nvGraphicFramePr>
        <p:xfrm>
          <a:off x="962561" y="1548740"/>
          <a:ext cx="10160000" cy="47853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编号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功能名称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版本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负责角色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FR-01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账号管理（注册/登录/登出/资料编辑）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初版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FR-02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旅游信息浏览（目的地/景点/攻略）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初版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FR-03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关键词搜索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初版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FR-04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酒店/门票产品筛选与查询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初版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FR-05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模拟下单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初版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FR-06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订单管理（查询/取消/模拟退款）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初版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B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FR-07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游记发布与管理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初版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FR-08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评论、评分、收藏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初版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FR-09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平台后台管理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初版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FR-10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个性化推荐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C8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扩展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FR-11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内容审核与使用统计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C8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扩展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D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56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FR-12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AI旅行助手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C81E1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扩展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C</a:t>
                      </a:r>
                      <a:endParaRPr lang="en-US" sz="1100"/>
                    </a:p>
                  </a:txBody>
                  <a:tcPr marL="101600" marR="101600" marT="88900" marB="889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C9DBFD26-E85B-C080-0A0A-786428C723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5" y="147175"/>
            <a:ext cx="1381125" cy="6454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C1094C5-DD1E-0CCA-0C23-84E9385FC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325" y="211216"/>
            <a:ext cx="609600" cy="60626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AutoShape 2"/>
          <p:cNvSpPr/>
          <p:nvPr/>
        </p:nvSpPr>
        <p:spPr>
          <a:xfrm>
            <a:off x="7932718" y="1917205"/>
            <a:ext cx="3350822" cy="2083790"/>
          </a:xfrm>
          <a:prstGeom prst="flowChartProcess">
            <a:avLst/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F528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/>
            <a:endParaRPr/>
          </a:p>
        </p:txBody>
      </p:sp>
      <p:sp>
        <p:nvSpPr>
          <p:cNvPr id="1048679" name="AutoShape 3"/>
          <p:cNvSpPr/>
          <p:nvPr/>
        </p:nvSpPr>
        <p:spPr>
          <a:xfrm>
            <a:off x="4322617" y="1932049"/>
            <a:ext cx="3350822" cy="2083790"/>
          </a:xfrm>
          <a:prstGeom prst="flowChartProcess">
            <a:avLst/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F528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/>
            <a:endParaRPr/>
          </a:p>
        </p:txBody>
      </p:sp>
      <p:sp>
        <p:nvSpPr>
          <p:cNvPr id="1048680" name="AutoShape 4"/>
          <p:cNvSpPr/>
          <p:nvPr/>
        </p:nvSpPr>
        <p:spPr>
          <a:xfrm>
            <a:off x="821376" y="1917205"/>
            <a:ext cx="3350822" cy="2083790"/>
          </a:xfrm>
          <a:prstGeom prst="flowChartProcess">
            <a:avLst/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F528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91440" tIns="45720" rIns="91440" bIns="45720" rtlCol="0" anchor="ctr" anchorCtr="0"/>
          <a:lstStyle/>
          <a:p>
            <a:pPr algn="ctr"/>
            <a:endParaRPr/>
          </a:p>
        </p:txBody>
      </p:sp>
      <p:sp>
        <p:nvSpPr>
          <p:cNvPr id="1048681" name="AutoShape 5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关键设计决策：防超卖、防重提交、阶梯退款规则</a:t>
            </a:r>
            <a:endParaRPr lang="en-US" sz="1100"/>
          </a:p>
        </p:txBody>
      </p:sp>
      <p:cxnSp>
        <p:nvCxnSpPr>
          <p:cNvPr id="3145736" name="Connector 6"/>
          <p:cNvCxnSpPr>
            <a:cxnSpLocks/>
          </p:cNvCxnSpPr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682" name="AutoShape 7"/>
          <p:cNvSpPr txBox="1"/>
          <p:nvPr/>
        </p:nvSpPr>
        <p:spPr>
          <a:xfrm>
            <a:off x="1016000" y="19812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</a:pPr>
            <a:r>
              <a:rPr lang="en-US" sz="17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① 库存扣减与防超卖</a:t>
            </a:r>
            <a:endParaRPr lang="en-US" sz="1100"/>
          </a:p>
        </p:txBody>
      </p:sp>
      <p:sp>
        <p:nvSpPr>
          <p:cNvPr id="1048683" name="AutoShape 8"/>
          <p:cNvSpPr txBox="1"/>
          <p:nvPr/>
        </p:nvSpPr>
        <p:spPr>
          <a:xfrm>
            <a:off x="1016000" y="2413000"/>
            <a:ext cx="3048000" cy="1524000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下单时在同一个数据库事务内完成：实时校验可用库存 → 扣减库存数 → 创建预订单与订单项，避免并发下超卖。</a:t>
            </a:r>
            <a:endParaRPr lang="en-US" sz="1100"/>
          </a:p>
        </p:txBody>
      </p:sp>
      <p:sp>
        <p:nvSpPr>
          <p:cNvPr id="1048684" name="AutoShape 9"/>
          <p:cNvSpPr txBox="1"/>
          <p:nvPr/>
        </p:nvSpPr>
        <p:spPr>
          <a:xfrm>
            <a:off x="4572000" y="19812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</a:pPr>
            <a:r>
              <a:rPr lang="en-US" sz="17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② 重复提交防重</a:t>
            </a:r>
            <a:endParaRPr lang="en-US" sz="1100"/>
          </a:p>
        </p:txBody>
      </p:sp>
      <p:sp>
        <p:nvSpPr>
          <p:cNvPr id="1048685" name="AutoShape 10"/>
          <p:cNvSpPr txBox="1"/>
          <p:nvPr/>
        </p:nvSpPr>
        <p:spPr>
          <a:xfrm>
            <a:off x="4376057" y="2413000"/>
            <a:ext cx="3243943" cy="1524000"/>
          </a:xfrm>
          <a:prstGeom prst="rect">
            <a:avLst/>
          </a:prstGeom>
          <a:noFill/>
          <a:ln w="127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前端点击后立即禁用按钮；服务端对同一用户、同一产品、同一日期5秒内的相同请求做幂等处理，仅生成1个订单。</a:t>
            </a:r>
            <a:endParaRPr lang="en-US" sz="1100"/>
          </a:p>
        </p:txBody>
      </p:sp>
      <p:sp>
        <p:nvSpPr>
          <p:cNvPr id="1048686" name="AutoShape 11"/>
          <p:cNvSpPr txBox="1"/>
          <p:nvPr/>
        </p:nvSpPr>
        <p:spPr>
          <a:xfrm>
            <a:off x="8128000" y="19812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</a:pPr>
            <a:r>
              <a:rPr lang="en-US" sz="17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③ 阶梯退款规则</a:t>
            </a:r>
            <a:endParaRPr lang="en-US" sz="1100"/>
          </a:p>
        </p:txBody>
      </p:sp>
      <p:sp>
        <p:nvSpPr>
          <p:cNvPr id="1048687" name="AutoShape 12"/>
          <p:cNvSpPr txBox="1"/>
          <p:nvPr/>
        </p:nvSpPr>
        <p:spPr>
          <a:xfrm>
            <a:off x="8027719" y="2413000"/>
            <a:ext cx="3148281" cy="1524000"/>
          </a:xfrm>
          <a:prstGeom prst="rect">
            <a:avLst/>
          </a:prstGeom>
          <a:noFill/>
          <a:ln w="12700" cap="flat" cmpd="sng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41666"/>
              </a:lnSpc>
            </a:pPr>
            <a:r>
              <a:rPr lang="en-US" sz="1300" b="0" i="0" u="none" strike="noStrike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距使用日≥3天取消：100%模拟退款；1-2天取消：50%退款；使用日当天取消：0%退款。所有金额均为模拟值。</a:t>
            </a:r>
            <a:endParaRPr lang="en-US" sz="1100"/>
          </a:p>
        </p:txBody>
      </p:sp>
      <p:sp>
        <p:nvSpPr>
          <p:cNvPr id="1048688" name="AutoShape 13"/>
          <p:cNvSpPr/>
          <p:nvPr/>
        </p:nvSpPr>
        <p:spPr>
          <a:xfrm>
            <a:off x="914400" y="4267200"/>
            <a:ext cx="10363200" cy="19304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2F528F">
                <a:alpha val="100000"/>
              </a:srgbClr>
            </a:solidFill>
            <a:prstDash val="solid"/>
            <a:miter lim="1000000"/>
          </a:ln>
        </p:spPr>
        <p:txBody>
          <a:bodyPr vert="horz" wrap="square" lIns="63500" tIns="63500" rIns="63500" bIns="63500" rtlCol="0" anchor="ctr"/>
          <a:lstStyle/>
          <a:p>
            <a:pPr algn="ctr"/>
            <a:endParaRPr/>
          </a:p>
        </p:txBody>
      </p:sp>
      <p:sp>
        <p:nvSpPr>
          <p:cNvPr id="1048689" name="AutoShape 14"/>
          <p:cNvSpPr txBox="1"/>
          <p:nvPr/>
        </p:nvSpPr>
        <p:spPr>
          <a:xfrm>
            <a:off x="1016000" y="4445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600" b="1" i="0" u="none" strike="noStrike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订单状态流转</a:t>
            </a:r>
            <a:endParaRPr lang="en-US" sz="1100"/>
          </a:p>
        </p:txBody>
      </p:sp>
      <p:sp>
        <p:nvSpPr>
          <p:cNvPr id="1048690" name="AutoShape 15"/>
          <p:cNvSpPr txBox="1"/>
          <p:nvPr/>
        </p:nvSpPr>
        <p:spPr>
          <a:xfrm>
            <a:off x="1016000" y="5016500"/>
            <a:ext cx="10160000" cy="1092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333"/>
              </a:lnSpc>
            </a:pP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校验失败（库存不足/未登录/数量非法）→ 不生成任何订单；下单成功 → 「已预留（Reserved）」；用户取消 → 「已取消（Cancelled）」并恢复库存；到达使用日 → 自动标记为「已完成（Completed）」；已完成/已取消订单不可再次取消。</a:t>
            </a:r>
            <a:endParaRPr lang="en-US" sz="11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F097F6A-222B-0AC5-EBA6-31F8115D9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5" y="147175"/>
            <a:ext cx="1381125" cy="6454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1B4B789-78A4-AD00-D53F-F7F3AA92D4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325" y="211216"/>
            <a:ext cx="609600" cy="60626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01659CFA-B272-7847-D99B-13C6B77772DC}"/>
              </a:ext>
            </a:extLst>
          </p:cNvPr>
          <p:cNvSpPr>
            <a:spLocks noGrp="1"/>
          </p:cNvSpPr>
          <p:nvPr/>
        </p:nvSpPr>
        <p:spPr>
          <a:xfrm>
            <a:off x="2286000" y="352425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>
              <a:buNone/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dirty="0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MIEC EE308FZ</a:t>
            </a:r>
            <a:endParaRPr sz="1725" b="0" dirty="0">
              <a:solidFill>
                <a:srgbClr val="C8DCE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AutoShape 2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界面原型：8个页面覆盖全平台核心交互路径</a:t>
            </a:r>
            <a:endParaRPr lang="en-US" sz="1100"/>
          </a:p>
        </p:txBody>
      </p:sp>
      <p:cxnSp>
        <p:nvCxnSpPr>
          <p:cNvPr id="3145737" name="Connector 3"/>
          <p:cNvCxnSpPr>
            <a:cxnSpLocks/>
          </p:cNvCxnSpPr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4194307" name="Table 4"/>
          <p:cNvGraphicFramePr>
            <a:graphicFrameLocks noGrp="1"/>
          </p:cNvGraphicFramePr>
          <p:nvPr/>
        </p:nvGraphicFramePr>
        <p:xfrm>
          <a:off x="1016000" y="1905000"/>
          <a:ext cx="10160000" cy="404876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页面编号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页面名称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3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核心功能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87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UI-01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首页与搜索结果页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全局搜索、热门目的地、推荐内容入口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UI-02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产品详情页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展示产品描述、可订日期、价格与每日库存，选日期/数量发起模拟预订</a:t>
                      </a:r>
                      <a:endParaRPr lang="en-US" sz="1100"/>
                    </a:p>
                  </a:txBody>
                  <a:tcPr marL="101600" marR="101600" marT="57150" marB="5715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UI-03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订单确认页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展示订单号、明细、总价，确认提交生成预订单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UI-04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我的订单页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按状态筛选订单，支持取消预订单、查看模拟退款金额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UI-05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游记详情页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查看游记正文、图片、评论区、评分与收藏入口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UI-06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个人中心页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账号资料编辑、我的游记/评论/收藏管理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UI-07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F172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管理员后台页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景点/攻略/产品上下架、违规内容隐藏、平台统计查看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UI-08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0070B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AI旅行助手页（扩展）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</a:pPr>
                      <a:r>
                        <a:rPr lang="en-US" sz="1200" b="0" i="0" u="none" strike="noStrike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输入目的地、天数、偏好，生成个性化行程建议</a:t>
                      </a:r>
                      <a:endParaRPr lang="en-US" sz="1100"/>
                    </a:p>
                  </a:txBody>
                  <a:tcPr marL="101600" marR="101600" marT="101600" marB="1016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2" name="图片 1">
            <a:extLst>
              <a:ext uri="{FF2B5EF4-FFF2-40B4-BE49-F238E27FC236}">
                <a16:creationId xmlns:a16="http://schemas.microsoft.com/office/drawing/2014/main" id="{355B2938-88AB-7437-1822-B995F24DA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5" y="147175"/>
            <a:ext cx="1381125" cy="6454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EB9DD27-65C1-3E69-3BC2-726535B80A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325" y="211216"/>
            <a:ext cx="609600" cy="60626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D4D3E2C-7788-6544-17B5-9672A824D62A}"/>
              </a:ext>
            </a:extLst>
          </p:cNvPr>
          <p:cNvSpPr>
            <a:spLocks noGrp="1"/>
          </p:cNvSpPr>
          <p:nvPr/>
        </p:nvSpPr>
        <p:spPr>
          <a:xfrm>
            <a:off x="2286000" y="352425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>
              <a:buNone/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dirty="0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MIEC EE308FZ</a:t>
            </a:r>
            <a:endParaRPr sz="1725" b="0" dirty="0">
              <a:solidFill>
                <a:srgbClr val="C8DCE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AutoShape 2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验收标准：10项核心测试用例覆盖全部关键路径</a:t>
            </a:r>
            <a:endParaRPr lang="en-US" sz="1100"/>
          </a:p>
        </p:txBody>
      </p:sp>
      <p:cxnSp>
        <p:nvCxnSpPr>
          <p:cNvPr id="3145738" name="Connector 3"/>
          <p:cNvCxnSpPr>
            <a:cxnSpLocks/>
          </p:cNvCxnSpPr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705" name="AutoShape 4"/>
          <p:cNvSpPr txBox="1"/>
          <p:nvPr/>
        </p:nvSpPr>
        <p:spPr>
          <a:xfrm>
            <a:off x="1016000" y="1905000"/>
            <a:ext cx="5080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66666"/>
              </a:lnSpc>
            </a:pPr>
            <a:r>
              <a:rPr lang="en-US" sz="14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AT-F01</a:t>
            </a: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：产品查询按日期筛选，返回对应库存数量，无结果时展示空状态</a:t>
            </a:r>
            <a:endParaRPr lang="en-US" sz="1100"/>
          </a:p>
          <a:p>
            <a:pPr marL="0" indent="0" algn="l">
              <a:lnSpc>
                <a:spcPct val="166666"/>
              </a:lnSpc>
            </a:pPr>
            <a:r>
              <a:rPr lang="en-US" sz="14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AT-F02</a:t>
            </a: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：正常下单生成预订单，扣减对应数量，总额=单价×数量</a:t>
            </a:r>
          </a:p>
          <a:p>
            <a:pPr marL="0" indent="0" algn="l">
              <a:lnSpc>
                <a:spcPct val="166666"/>
              </a:lnSpc>
            </a:pPr>
            <a:r>
              <a:rPr lang="en-US" sz="14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AT-F03</a:t>
            </a: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：选择超过库存的数量时下单被拒绝，库存不变化</a:t>
            </a:r>
          </a:p>
          <a:p>
            <a:pPr marL="0" indent="0" algn="l">
              <a:lnSpc>
                <a:spcPct val="166666"/>
              </a:lnSpc>
            </a:pPr>
            <a:r>
              <a:rPr lang="en-US" sz="14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AT-F04</a:t>
            </a: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：提交0、负数、小数数量时拦截，不生成订单</a:t>
            </a:r>
          </a:p>
          <a:p>
            <a:pPr marL="0" indent="0" algn="l">
              <a:lnSpc>
                <a:spcPct val="166666"/>
              </a:lnSpc>
            </a:pPr>
            <a:r>
              <a:rPr lang="en-US" sz="14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AT-F05</a:t>
            </a: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：5秒内连续点击提交按钮，仅生成1个订单</a:t>
            </a:r>
          </a:p>
        </p:txBody>
      </p:sp>
      <p:sp>
        <p:nvSpPr>
          <p:cNvPr id="1048706" name="AutoShape 5"/>
          <p:cNvSpPr txBox="1"/>
          <p:nvPr/>
        </p:nvSpPr>
        <p:spPr>
          <a:xfrm>
            <a:off x="6096000" y="1905000"/>
            <a:ext cx="5080000" cy="355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66666"/>
              </a:lnSpc>
            </a:pPr>
            <a:r>
              <a:rPr lang="en-US" sz="14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AT-F06</a:t>
            </a: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：距使用日≥3天取消，100%模拟退款，库存全额恢复</a:t>
            </a:r>
            <a:endParaRPr lang="en-US" sz="1100"/>
          </a:p>
          <a:p>
            <a:pPr marL="0" indent="0" algn="l">
              <a:lnSpc>
                <a:spcPct val="166666"/>
              </a:lnSpc>
            </a:pPr>
            <a:r>
              <a:rPr lang="en-US" sz="14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AT-F07</a:t>
            </a: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：距使用日1-2天取消退50%，当天取消退0%</a:t>
            </a:r>
          </a:p>
          <a:p>
            <a:pPr marL="0" indent="0" algn="l">
              <a:lnSpc>
                <a:spcPct val="166666"/>
              </a:lnSpc>
            </a:pPr>
            <a:r>
              <a:rPr lang="en-US" sz="14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AT-F08</a:t>
            </a: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：访问他人订单返回无权限，重复取消已取消订单提示无需操作</a:t>
            </a:r>
          </a:p>
          <a:p>
            <a:pPr marL="0" indent="0" algn="l">
              <a:lnSpc>
                <a:spcPct val="166666"/>
              </a:lnSpc>
            </a:pPr>
            <a:r>
              <a:rPr lang="en-US" sz="14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AT-F09</a:t>
            </a: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：注册、登录、搜索、浏览流程冒烟测试全部通过</a:t>
            </a:r>
          </a:p>
          <a:p>
            <a:pPr marL="0" indent="0" algn="l">
              <a:lnSpc>
                <a:spcPct val="166666"/>
              </a:lnSpc>
            </a:pPr>
            <a:r>
              <a:rPr lang="en-US" sz="14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AT-F10</a:t>
            </a: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：游记发布、评论、收藏及扩展功能交互正常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6E1B1D4-2D3A-B8B7-0D17-39C1C706B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5" y="147175"/>
            <a:ext cx="1381125" cy="6454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E5746CA-BC4A-884E-9102-C9C236F0C9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325" y="211216"/>
            <a:ext cx="609600" cy="6062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AutoShape 2"/>
          <p:cNvSpPr txBox="1"/>
          <p:nvPr/>
        </p:nvSpPr>
        <p:spPr>
          <a:xfrm>
            <a:off x="1016000" y="762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2800" b="1" i="0" u="none" strike="noStrike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待完成事项与后续迭代规划</a:t>
            </a:r>
            <a:endParaRPr lang="en-US" sz="1100"/>
          </a:p>
        </p:txBody>
      </p:sp>
      <p:cxnSp>
        <p:nvCxnSpPr>
          <p:cNvPr id="3145739" name="Connector 3"/>
          <p:cNvCxnSpPr>
            <a:cxnSpLocks/>
          </p:cNvCxnSpPr>
          <p:nvPr/>
        </p:nvCxnSpPr>
        <p:spPr>
          <a:xfrm rot="-4297">
            <a:off x="1016004" y="1454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714" name="AutoShape 4"/>
          <p:cNvSpPr txBox="1"/>
          <p:nvPr/>
        </p:nvSpPr>
        <p:spPr>
          <a:xfrm>
            <a:off x="1016000" y="190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C81E1E"/>
                </a:solidFill>
                <a:latin typeface="Noto Sans SC"/>
                <a:ea typeface="Noto Sans SC"/>
                <a:cs typeface="Noto Sans SC"/>
                <a:sym typeface="Noto Sans SC"/>
              </a:rPr>
              <a:t>当前待完成项（截止2026.10.18）</a:t>
            </a:r>
            <a:endParaRPr lang="en-US" sz="1100"/>
          </a:p>
        </p:txBody>
      </p:sp>
      <p:sp>
        <p:nvSpPr>
          <p:cNvPr id="1048715" name="AutoShape 5"/>
          <p:cNvSpPr txBox="1"/>
          <p:nvPr/>
        </p:nvSpPr>
        <p:spPr>
          <a:xfrm>
            <a:off x="1016000" y="2476500"/>
            <a:ext cx="5080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66666"/>
              </a:lnSpc>
            </a:pP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• 角色C补全首页、游记、个人中心、后台、AI助手剩余线框图</a:t>
            </a:r>
            <a:endParaRPr lang="en-US" sz="1100"/>
          </a:p>
          <a:p>
            <a:pPr marL="0" indent="0" algn="l">
              <a:lnSpc>
                <a:spcPct val="166666"/>
              </a:lnSpc>
            </a:pP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• 角色E补全FR-01~03、FR-07~12模块的详细验收点</a:t>
            </a:r>
          </a:p>
          <a:p>
            <a:pPr marL="0" indent="0" algn="l">
              <a:lnSpc>
                <a:spcPct val="166666"/>
              </a:lnSpc>
            </a:pP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• 安排2-3名目标用户完成场景与原型验证，收集反馈</a:t>
            </a:r>
          </a:p>
          <a:p>
            <a:pPr marL="0" indent="0" algn="l">
              <a:lnSpc>
                <a:spcPct val="166666"/>
              </a:lnSpc>
            </a:pP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• 后端开发同学评审整体类图中的事务与库存设计方案</a:t>
            </a:r>
          </a:p>
          <a:p>
            <a:pPr marL="0" indent="0" algn="l">
              <a:lnSpc>
                <a:spcPct val="166666"/>
              </a:lnSpc>
            </a:pP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• 高保真原型待后续扩展阶段完成</a:t>
            </a:r>
          </a:p>
        </p:txBody>
      </p:sp>
      <p:sp>
        <p:nvSpPr>
          <p:cNvPr id="1048716" name="AutoShape 6"/>
          <p:cNvSpPr txBox="1"/>
          <p:nvPr/>
        </p:nvSpPr>
        <p:spPr>
          <a:xfrm>
            <a:off x="6096000" y="1905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25000"/>
              </a:lnSpc>
            </a:pPr>
            <a:r>
              <a:rPr lang="en-US" sz="1800" b="1" i="0" u="none" strike="noStrike">
                <a:solidFill>
                  <a:srgbClr val="0070BA"/>
                </a:solidFill>
                <a:latin typeface="Noto Sans SC"/>
                <a:ea typeface="Noto Sans SC"/>
                <a:cs typeface="Noto Sans SC"/>
                <a:sym typeface="Noto Sans SC"/>
              </a:rPr>
              <a:t>后续迭代方向</a:t>
            </a:r>
            <a:endParaRPr lang="en-US" sz="1100"/>
          </a:p>
        </p:txBody>
      </p:sp>
      <p:sp>
        <p:nvSpPr>
          <p:cNvPr id="1048717" name="AutoShape 7"/>
          <p:cNvSpPr txBox="1"/>
          <p:nvPr/>
        </p:nvSpPr>
        <p:spPr>
          <a:xfrm>
            <a:off x="6096000" y="2476500"/>
            <a:ext cx="5080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l">
              <a:lnSpc>
                <a:spcPct val="166666"/>
              </a:lnSpc>
            </a:pP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• 基于用户浏览与收藏数据上线个性化推荐</a:t>
            </a:r>
            <a:endParaRPr lang="en-US" sz="1100"/>
          </a:p>
          <a:p>
            <a:pPr marL="0" indent="0" algn="l">
              <a:lnSpc>
                <a:spcPct val="166666"/>
              </a:lnSpc>
            </a:pP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• 完善内容审核机制与平台使用数据统计看板</a:t>
            </a:r>
          </a:p>
          <a:p>
            <a:pPr marL="0" indent="0" algn="l">
              <a:lnSpc>
                <a:spcPct val="166666"/>
              </a:lnSpc>
            </a:pP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• 接入AI能力实现自动生成行程建议的旅行助手</a:t>
            </a:r>
          </a:p>
          <a:p>
            <a:pPr marL="0" indent="0" algn="l">
              <a:lnSpc>
                <a:spcPct val="166666"/>
              </a:lnSpc>
            </a:pPr>
            <a:r>
              <a:rPr lang="en-US" sz="1400" b="0" i="0" u="none" strike="noStrike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• 整体形成「搜索 → 预订 → 出行 → 记录」的完整闭环</a:t>
            </a:r>
          </a:p>
        </p:txBody>
      </p:sp>
      <p:sp>
        <p:nvSpPr>
          <p:cNvPr id="1048718" name="AutoShape 8"/>
          <p:cNvSpPr txBox="1"/>
          <p:nvPr/>
        </p:nvSpPr>
        <p:spPr>
          <a:xfrm>
            <a:off x="1016000" y="5588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indent="0" algn="ctr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001C54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 · 欢迎提问</a:t>
            </a:r>
            <a:endParaRPr lang="en-US" sz="110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FABC622-61A8-5FC7-EB29-F498AAF895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25" y="147175"/>
            <a:ext cx="1381125" cy="64545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63A6E332-5385-CB4E-E87A-AD79BB8113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82325" y="211216"/>
            <a:ext cx="609600" cy="60626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E25D7B4-415F-5D7A-1F0A-A45B3C708FB7}"/>
              </a:ext>
            </a:extLst>
          </p:cNvPr>
          <p:cNvSpPr>
            <a:spLocks noGrp="1"/>
          </p:cNvSpPr>
          <p:nvPr/>
        </p:nvSpPr>
        <p:spPr>
          <a:xfrm>
            <a:off x="2286000" y="352425"/>
            <a:ext cx="685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defPPr>
          </a:lstStyle>
          <a:p>
            <a:pPr>
              <a:buNone/>
              <a:defRPr sz="1350" b="1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50" b="1" dirty="0">
                <a:solidFill>
                  <a:srgbClr val="0B807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MIEC EE308FZ</a:t>
            </a:r>
            <a:endParaRPr sz="1725" b="0" dirty="0">
              <a:solidFill>
                <a:srgbClr val="C8DCE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1184</Words>
  <Application>Microsoft Office PowerPoint</Application>
  <PresentationFormat>宽屏</PresentationFormat>
  <Paragraphs>248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Noto Sans SC</vt:lpstr>
      <vt:lpstr>Songti SC</vt:lpstr>
      <vt:lpstr>微软雅黑</vt:lpstr>
      <vt:lpstr>Arial</vt:lpstr>
      <vt:lpstr>Office 主题​​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TB376FC</dc:creator>
  <cp:lastModifiedBy>lenovo</cp:lastModifiedBy>
  <cp:revision>1</cp:revision>
  <dcterms:created xsi:type="dcterms:W3CDTF">2026-10-18T10:13:09Z</dcterms:created>
  <dcterms:modified xsi:type="dcterms:W3CDTF">2026-10-18T10:24:15Z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84878d85aa8946949f878dd1d7a5df9f_23</vt:lpwstr>
  </property>
</Properties>
</file>